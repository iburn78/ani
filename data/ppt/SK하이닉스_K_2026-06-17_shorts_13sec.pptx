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removePersonalInfoOnSave="1" strictFirstAndLastChars="0" saveSubsetFonts="1">
  <p:sldMasterIdLst>
    <p:sldMasterId id="2147483648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</p:sldIdLst>
  <p:sldSz cx="6480175" cy="11520488"/>
  <p:notesSz cx="7104063" cy="10234613"/>
  <p:custDataLst>
    <p:tags r:id="rId4"/>
  </p:custDataLst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1pPr>
    <a:lvl2pPr marL="44072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2pPr>
    <a:lvl3pPr marL="881440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3pPr>
    <a:lvl4pPr marL="132216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4pPr>
    <a:lvl5pPr marL="1762882" algn="l" rtl="0" fontAlgn="base">
      <a:spcBef>
        <a:spcPct val="0"/>
      </a:spcBef>
      <a:spcAft>
        <a:spcPct val="0"/>
      </a:spcAft>
      <a:defRPr sz="1542" kern="120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6pPr>
    <a:lvl7pPr marL="264432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7pPr>
    <a:lvl8pPr marL="308504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8pPr>
    <a:lvl9pPr marL="3525762" algn="l" defTabSz="881440" rtl="0" eaLnBrk="1" latinLnBrk="0" hangingPunct="1">
      <a:defRPr sz="1542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55" userDrawn="1">
          <p15:clr>
            <a:srgbClr val="A4A3A4"/>
          </p15:clr>
        </p15:guide>
        <p15:guide id="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8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F8F8EC"/>
    <a:srgbClr val="F4F6DD"/>
    <a:srgbClr val="EBE8CA"/>
    <a:srgbClr val="C6AE7F"/>
    <a:srgbClr val="CFBC92"/>
    <a:srgbClr val="D8CBA5"/>
    <a:srgbClr val="D0D0CE"/>
    <a:srgbClr val="BBBCBC"/>
    <a:srgbClr val="808080"/>
    <a:srgbClr val="0065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47" autoAdjust="0"/>
    <p:restoredTop sz="81739" autoAdjust="0"/>
  </p:normalViewPr>
  <p:slideViewPr>
    <p:cSldViewPr snapToGrid="0" snapToObjects="1">
      <p:cViewPr varScale="1">
        <p:scale>
          <a:sx n="62" d="100"/>
          <a:sy n="62" d="100"/>
        </p:scale>
        <p:origin x="3828" y="72"/>
      </p:cViewPr>
      <p:guideLst>
        <p:guide orient="horz" pos="7255"/>
        <p:guide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>
      <p:cViewPr varScale="1">
        <p:scale>
          <a:sx n="77" d="100"/>
          <a:sy n="77" d="100"/>
        </p:scale>
        <p:origin x="4008" y="108"/>
      </p:cViewPr>
      <p:guideLst>
        <p:guide orient="horz" pos="3224"/>
        <p:guide pos="2238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tags" Target="tags/tag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591562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289175" y="642938"/>
            <a:ext cx="2532063" cy="4503737"/>
          </a:xfrm>
          <a:prstGeom prst="rect">
            <a:avLst/>
          </a:prstGeom>
          <a:noFill/>
          <a:ln w="9525">
            <a:solidFill>
              <a:schemeClr val="bg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123" name="Rectangle 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575282" y="5499466"/>
            <a:ext cx="6053840" cy="1154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6339810" y="9842083"/>
            <a:ext cx="563575" cy="1907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3C3A632B-FBDE-46D4-BF6F-6D14421E634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5128" name="doc id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6903319" y="117993"/>
            <a:ext cx="65" cy="123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800"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3025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defRPr sz="1500" kern="1200" baseline="0">
        <a:solidFill>
          <a:schemeClr val="tx1"/>
        </a:solidFill>
        <a:latin typeface="Arial" charset="0"/>
        <a:ea typeface="+mn-ea"/>
        <a:cs typeface="+mn-cs"/>
      </a:defRPr>
    </a:lvl1pPr>
    <a:lvl2pPr marL="113242" indent="-11171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▪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2pPr>
    <a:lvl3pPr marL="289224" indent="-174453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120000"/>
      <a:buFont typeface="Arial" charset="0"/>
      <a:buChar char="–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3pPr>
    <a:lvl4pPr marL="411645" indent="-120892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Font typeface="Arial" charset="0"/>
      <a:buChar char="▫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4pPr>
    <a:lvl5pPr marL="523356" indent="-110180" algn="l" defTabSz="863077" rtl="0" eaLnBrk="0" fontAlgn="base" hangingPunct="0">
      <a:spcBef>
        <a:spcPct val="0"/>
      </a:spcBef>
      <a:spcAft>
        <a:spcPct val="0"/>
      </a:spcAft>
      <a:buClr>
        <a:schemeClr val="tx2"/>
      </a:buClr>
      <a:buSzPct val="89000"/>
      <a:buFont typeface="Arial" charset="0"/>
      <a:buChar char="-"/>
      <a:defRPr sz="1500" kern="1200" baseline="0">
        <a:solidFill>
          <a:schemeClr val="tx1"/>
        </a:solidFill>
        <a:latin typeface="Arial" charset="0"/>
        <a:ea typeface="+mn-ea"/>
        <a:cs typeface="+mn-cs"/>
      </a:defRPr>
    </a:lvl5pPr>
    <a:lvl6pPr marL="220360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6pPr>
    <a:lvl7pPr marL="264432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7pPr>
    <a:lvl8pPr marL="308504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8pPr>
    <a:lvl9pPr marL="3525762" algn="l" defTabSz="881440" rtl="0" eaLnBrk="1" latinLnBrk="0" hangingPunct="1">
      <a:defRPr sz="115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SK하이닉스는 HBM·고적층 낸드·기업용 저장장치로 AI·데이터센터 수요를 흡수했습니다.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HBM, 고적층 낸드, 기업용 SSD로 AI·데이터센터 수요를 선점했고, 글로벌 고객 인증과 양산 능력, 첨단 패키징·고수율 생산으로 차별화했습니다.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최근 분기는 메모리 가격 상승, 서버·AI 수요 증가, 출하량 확대, 고급 제품 비중 개선으로 매출이 크게 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25Q1~25Q4 영업이익은 꾸준히 늘었고 26Q1에 급증했으며, 메모리 가격 상승, AI 수요, 공장 효율 개선으로 전년동기보다 크게 높아졌습니다.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서버용 고대역 메모리 증설 지연, 범용 메모리 수요 회복 지연, 대중국 규제와 해외 생산 제약이 점유율, 단가, 투자 효율에 영향을 미칩니다.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서버·데이터센터·기업용 저장장치 수요와 메모리 가격·출하량 증가로 실적이 개선되고, 중국·해외 생산 및 정책 리스크는 남아 있습니다.</a:t>
            </a:r>
          </a:p>
          <a:p>
            <a:r>
              <a:t>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89B10D-33A5-CCB0-EBC1-7A299DBAC34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6082" y="3563719"/>
            <a:ext cx="5316634" cy="1630363"/>
          </a:xfrm>
          <a:prstGeom prst="rect">
            <a:avLst/>
          </a:prstGeom>
        </p:spPr>
        <p:txBody>
          <a:bodyPr/>
          <a:lstStyle>
            <a:lvl1pPr latinLnBrk="0"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6" name="텍스트 개체 틀 5">
            <a:extLst>
              <a:ext uri="{FF2B5EF4-FFF2-40B4-BE49-F238E27FC236}">
                <a16:creationId xmlns:a16="http://schemas.microsoft.com/office/drawing/2014/main" id="{367AAAF6-2C7C-E88E-0533-DB11A90B7AF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6087" y="7603573"/>
            <a:ext cx="5587999" cy="597693"/>
          </a:xfrm>
          <a:prstGeom prst="rect">
            <a:avLst/>
          </a:prstGeom>
        </p:spPr>
        <p:txBody>
          <a:bodyPr/>
          <a:lstStyle>
            <a:lvl1pPr>
              <a:defRPr lang="ko-KR" altLang="en-US" sz="40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2000-00-00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7976FF-C479-F920-584B-F2B8BDD0BFA5}"/>
              </a:ext>
            </a:extLst>
          </p:cNvPr>
          <p:cNvSpPr txBox="1"/>
          <p:nvPr userDrawn="1"/>
        </p:nvSpPr>
        <p:spPr>
          <a:xfrm>
            <a:off x="434713" y="2520366"/>
            <a:ext cx="559937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sz="25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13초컷 - 회사 하나 공부하자!</a:t>
            </a:r>
            <a:endParaRPr lang="ko-KR" altLang="en-US" sz="2500" b="1" baseline="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5AFC82-11A7-7B70-6FA5-00DB947B2489}"/>
              </a:ext>
            </a:extLst>
          </p:cNvPr>
          <p:cNvSpPr txBox="1"/>
          <p:nvPr userDrawn="1"/>
        </p:nvSpPr>
        <p:spPr>
          <a:xfrm>
            <a:off x="434713" y="8352573"/>
            <a:ext cx="479685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sz="28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Quarterly Performances</a:t>
            </a:r>
            <a:endParaRPr lang="ko-KR" altLang="en-US" sz="2800" b="1" baseline="0" dirty="0">
              <a:solidFill>
                <a:schemeClr val="accent5"/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476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5E890F-5725-B35B-EE34-75037AED22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9160" y="770598"/>
            <a:ext cx="5444928" cy="1616075"/>
          </a:xfrm>
          <a:prstGeom prst="rect">
            <a:avLst/>
          </a:prstGeom>
        </p:spPr>
        <p:txBody>
          <a:bodyPr anchor="b" anchorCtr="0"/>
          <a:lstStyle>
            <a:lvl1pPr latinLnBrk="0"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3C5BE8-B703-D56E-C629-81CAEBE30C7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9160" y="2471079"/>
            <a:ext cx="5444928" cy="585788"/>
          </a:xfrm>
          <a:prstGeom prst="rect">
            <a:avLst/>
          </a:prstGeom>
        </p:spPr>
        <p:txBody>
          <a:bodyPr/>
          <a:lstStyle>
            <a:lvl1pPr algn="l">
              <a:defRPr lang="ko-KR" altLang="en-US" sz="30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6" name="그림 개체 틀 5">
            <a:extLst>
              <a:ext uri="{FF2B5EF4-FFF2-40B4-BE49-F238E27FC236}">
                <a16:creationId xmlns:a16="http://schemas.microsoft.com/office/drawing/2014/main" id="{87FB6A68-F40A-56ED-204B-54338D01D73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54088" y="3143242"/>
            <a:ext cx="5580000" cy="5580000"/>
          </a:xfrm>
          <a:prstGeom prst="rect">
            <a:avLst/>
          </a:prstGeom>
        </p:spPr>
        <p:txBody>
          <a:bodyPr/>
          <a:lstStyle>
            <a:lvl1pPr>
              <a:defRPr sz="2000" baseline="0"/>
            </a:lvl1pPr>
          </a:lstStyle>
          <a:p>
            <a:endParaRPr lang="ko-KR" altLang="en-US" dirty="0"/>
          </a:p>
        </p:txBody>
      </p:sp>
      <p:sp>
        <p:nvSpPr>
          <p:cNvPr id="7" name="텍스트 개체 틀 3">
            <a:extLst>
              <a:ext uri="{FF2B5EF4-FFF2-40B4-BE49-F238E27FC236}">
                <a16:creationId xmlns:a16="http://schemas.microsoft.com/office/drawing/2014/main" id="{A98C0711-AF8E-5545-1001-26EC623A7F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0840" y="8766972"/>
            <a:ext cx="5443248" cy="1345991"/>
          </a:xfrm>
          <a:prstGeom prst="rect">
            <a:avLst/>
          </a:prstGeom>
        </p:spPr>
        <p:txBody>
          <a:bodyPr/>
          <a:lstStyle>
            <a:lvl1pPr algn="l">
              <a:defRPr lang="ko-KR" altLang="en-US" sz="2500" b="0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Desc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8827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bull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8C847A7-4649-7672-7AAE-D0EBC9D485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840" y="770594"/>
            <a:ext cx="5443248" cy="1616075"/>
          </a:xfrm>
          <a:prstGeom prst="rect">
            <a:avLst/>
          </a:prstGeom>
        </p:spPr>
        <p:txBody>
          <a:bodyPr anchor="b" anchorCtr="0"/>
          <a:lstStyle>
            <a:lvl1pPr latinLnBrk="0"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92A54D7-0E39-47DD-F299-49B2047D9A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0840" y="2472008"/>
            <a:ext cx="5443248" cy="585788"/>
          </a:xfrm>
          <a:prstGeom prst="rect">
            <a:avLst/>
          </a:prstGeom>
        </p:spPr>
        <p:txBody>
          <a:bodyPr/>
          <a:lstStyle>
            <a:lvl1pPr algn="l">
              <a:defRPr lang="ko-KR" altLang="en-US" sz="30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Subtitle</a:t>
            </a:r>
            <a:endParaRPr lang="ko-KR" altLang="en-US" dirty="0"/>
          </a:p>
        </p:txBody>
      </p:sp>
      <p:sp>
        <p:nvSpPr>
          <p:cNvPr id="6" name="텍스트 개체 틀 3">
            <a:extLst>
              <a:ext uri="{FF2B5EF4-FFF2-40B4-BE49-F238E27FC236}">
                <a16:creationId xmlns:a16="http://schemas.microsoft.com/office/drawing/2014/main" id="{EA339F74-C5E9-9BE9-4D8E-B5D70616F18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90839" y="3860602"/>
            <a:ext cx="5443247" cy="7067665"/>
          </a:xfrm>
          <a:prstGeom prst="rect">
            <a:avLst/>
          </a:prstGeom>
        </p:spPr>
        <p:txBody>
          <a:bodyPr/>
          <a:lstStyle>
            <a:lvl1pPr algn="l">
              <a:defRPr lang="ko-KR" altLang="en-US" sz="2500" b="1" baseline="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Desc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6984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_clo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D2FB13-3CE6-0092-F7FC-6E5DEA1068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0838" y="4080706"/>
            <a:ext cx="5261322" cy="1616075"/>
          </a:xfrm>
          <a:prstGeom prst="rect">
            <a:avLst/>
          </a:prstGeom>
        </p:spPr>
        <p:txBody>
          <a:bodyPr anchor="b" anchorCtr="0"/>
          <a:lstStyle>
            <a:lvl1pPr latinLnBrk="0">
              <a:defRPr/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5" name="텍스트 개체 틀 3">
            <a:extLst>
              <a:ext uri="{FF2B5EF4-FFF2-40B4-BE49-F238E27FC236}">
                <a16:creationId xmlns:a16="http://schemas.microsoft.com/office/drawing/2014/main" id="{888E7EBC-899B-0315-E3F8-412B3926175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0838" y="6114367"/>
            <a:ext cx="5261322" cy="585788"/>
          </a:xfrm>
          <a:prstGeom prst="rect">
            <a:avLst/>
          </a:prstGeom>
        </p:spPr>
        <p:txBody>
          <a:bodyPr/>
          <a:lstStyle>
            <a:lvl1pPr algn="l">
              <a:defRPr lang="ko-KR" altLang="en-US" sz="3000" b="1" baseline="0" dirty="0">
                <a:solidFill>
                  <a:schemeClr val="accent5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lvl="0" indent="0" algn="l" defTabSz="242728" rtl="0" eaLnBrk="1" fontAlgn="base" latinLnBrk="1" hangingPunct="1">
              <a:spcBef>
                <a:spcPct val="0"/>
              </a:spcBef>
              <a:spcAft>
                <a:spcPts val="54"/>
              </a:spcAft>
              <a:buClr>
                <a:schemeClr val="tx2"/>
              </a:buClr>
            </a:pPr>
            <a:r>
              <a:rPr lang="en-US" altLang="ko-KR" dirty="0"/>
              <a:t>Subtitle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5885456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tags" Target="../tags/tag2.xml"/><Relationship Id="rId7" Type="http://schemas.openxmlformats.org/officeDocument/2006/relationships/tags" Target="../tags/tag3.xml"/><Relationship Id="rId8" Type="http://schemas.openxmlformats.org/officeDocument/2006/relationships/tags" Target="../tags/tag4.xml"/><Relationship Id="rId9" Type="http://schemas.openxmlformats.org/officeDocument/2006/relationships/tags" Target="../tags/tag5.xml"/><Relationship Id="rId10" Type="http://schemas.openxmlformats.org/officeDocument/2006/relationships/tags" Target="../tags/tag6.xml"/><Relationship Id="rId11" Type="http://schemas.openxmlformats.org/officeDocument/2006/relationships/tags" Target="../tags/tag7.xml"/><Relationship Id="rId12" Type="http://schemas.openxmlformats.org/officeDocument/2006/relationships/tags" Target="../tags/tag8.xml"/><Relationship Id="rId13" Type="http://schemas.openxmlformats.org/officeDocument/2006/relationships/oleObject" Target="../embeddings/oleObject1.bin"/><Relationship Id="rId14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직사각형 17"/>
          <p:cNvSpPr/>
          <p:nvPr userDrawn="1"/>
        </p:nvSpPr>
        <p:spPr>
          <a:xfrm>
            <a:off x="0" y="2"/>
            <a:ext cx="6480175" cy="11520488"/>
          </a:xfrm>
          <a:prstGeom prst="rect">
            <a:avLst/>
          </a:prstGeom>
          <a:solidFill>
            <a:srgbClr val="F8F8EC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434" dirty="0" err="1">
              <a:solidFill>
                <a:schemeClr val="tx1"/>
              </a:solidFill>
            </a:endParaRPr>
          </a:p>
        </p:txBody>
      </p:sp>
      <p:graphicFrame>
        <p:nvGraphicFramePr>
          <p:cNvPr id="2" name="Object 1" hidden="1"/>
          <p:cNvGraphicFramePr>
            <a:graphicFrameLocks noChangeAspect="1"/>
          </p:cNvGraphicFramePr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3227576886"/>
              </p:ext>
            </p:extLst>
          </p:nvPr>
        </p:nvGraphicFramePr>
        <p:xfrm>
          <a:off x="0" y="1"/>
          <a:ext cx="114796" cy="2720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3" imgW="270" imgH="270" progId="TCLayout.ActiveDocument.1">
                  <p:embed/>
                </p:oleObj>
              </mc:Choice>
              <mc:Fallback>
                <p:oleObj name="think-cell Slide" r:id="rId13" imgW="270" imgH="27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0" y="1"/>
                        <a:ext cx="114796" cy="27209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Working Draft" hidden="1"/>
          <p:cNvSpPr txBox="1">
            <a:spLocks noChangeArrowheads="1"/>
          </p:cNvSpPr>
          <p:nvPr>
            <p:custDataLst>
              <p:tags r:id="rId7"/>
            </p:custDataLst>
          </p:nvPr>
        </p:nvSpPr>
        <p:spPr bwMode="auto">
          <a:xfrm rot="5400000">
            <a:off x="6153950" y="3392731"/>
            <a:ext cx="551433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Last Modified 2013-03-12 </a:t>
            </a:r>
            <a:r>
              <a:rPr lang="ko-KR" altLang="en-US" sz="163" baseline="0" noProof="0">
                <a:latin typeface="+mn-lt"/>
                <a:ea typeface="+mn-ea"/>
              </a:rPr>
              <a:t>오전 </a:t>
            </a:r>
            <a:r>
              <a:rPr lang="en-US" altLang="ko-KR" sz="163" baseline="0" noProof="0">
                <a:latin typeface="+mn-lt"/>
                <a:ea typeface="+mn-ea"/>
              </a:rPr>
              <a:t>12:01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035" name="Printed" hidden="1"/>
          <p:cNvSpPr txBox="1">
            <a:spLocks noChangeArrowheads="1"/>
          </p:cNvSpPr>
          <p:nvPr>
            <p:custDataLst>
              <p:tags r:id="rId8"/>
            </p:custDataLst>
          </p:nvPr>
        </p:nvSpPr>
        <p:spPr bwMode="auto">
          <a:xfrm rot="5400000">
            <a:off x="6189217" y="7118631"/>
            <a:ext cx="480901" cy="25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63" baseline="0" noProof="0">
                <a:latin typeface="+mn-lt"/>
                <a:ea typeface="+mn-ea"/>
              </a:rPr>
              <a:t>Printed 2013-03-11 </a:t>
            </a:r>
            <a:r>
              <a:rPr lang="ko-KR" altLang="en-US" sz="163" baseline="0" noProof="0">
                <a:latin typeface="+mn-lt"/>
                <a:ea typeface="+mn-ea"/>
              </a:rPr>
              <a:t>오후 </a:t>
            </a:r>
            <a:r>
              <a:rPr lang="en-US" altLang="ko-KR" sz="163" baseline="0" noProof="0">
                <a:latin typeface="+mn-lt"/>
                <a:ea typeface="+mn-ea"/>
              </a:rPr>
              <a:t>1:58 </a:t>
            </a:r>
            <a:r>
              <a:rPr lang="en-US" sz="163" baseline="0" noProof="0">
                <a:latin typeface="+mn-lt"/>
                <a:ea typeface="+mn-ea"/>
              </a:rPr>
              <a:t>Korea Standard Time</a:t>
            </a:r>
            <a:endParaRPr lang="en-US" sz="434" baseline="0" noProof="0" dirty="0">
              <a:latin typeface="+mn-lt"/>
              <a:ea typeface="+mn-ea"/>
            </a:endParaRPr>
          </a:p>
        </p:txBody>
      </p:sp>
      <p:sp>
        <p:nvSpPr>
          <p:cNvPr id="10" name="McK 1. On-page tracker" hidden="1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86098" y="46256"/>
            <a:ext cx="209994" cy="584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r>
              <a:rPr lang="en-US" sz="380" baseline="0" noProof="0" dirty="0">
                <a:solidFill>
                  <a:srgbClr val="808080"/>
                </a:solidFill>
                <a:latin typeface="+mn-lt"/>
                <a:ea typeface="+mj-ea"/>
              </a:rPr>
              <a:t>TRACKER</a:t>
            </a:r>
          </a:p>
        </p:txBody>
      </p:sp>
      <p:sp>
        <p:nvSpPr>
          <p:cNvPr id="11" name="McK 3. Unit of measure" hidden="1"/>
          <p:cNvSpPr txBox="1"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86097" y="911523"/>
            <a:ext cx="6232217" cy="6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defRPr sz="2400">
                <a:solidFill>
                  <a:schemeClr val="tx1"/>
                </a:solidFill>
                <a:latin typeface="Arial" charset="0"/>
              </a:defRPr>
            </a:lvl1pPr>
            <a:lvl2pPr marL="447675" defTabSz="895350">
              <a:defRPr sz="2400">
                <a:solidFill>
                  <a:schemeClr val="tx1"/>
                </a:solidFill>
                <a:latin typeface="Arial" charset="0"/>
              </a:defRPr>
            </a:lvl2pPr>
            <a:lvl3pPr marL="895350" defTabSz="895350">
              <a:defRPr sz="2400">
                <a:solidFill>
                  <a:schemeClr val="tx1"/>
                </a:solidFill>
                <a:latin typeface="Arial" charset="0"/>
              </a:defRPr>
            </a:lvl3pPr>
            <a:lvl4pPr marL="1344613" defTabSz="895350">
              <a:defRPr sz="2400">
                <a:solidFill>
                  <a:schemeClr val="tx1"/>
                </a:solidFill>
                <a:latin typeface="Arial" charset="0"/>
              </a:defRPr>
            </a:lvl4pPr>
            <a:lvl5pPr marL="1792288" defTabSz="895350">
              <a:defRPr sz="2400">
                <a:solidFill>
                  <a:schemeClr val="tx1"/>
                </a:solidFill>
                <a:latin typeface="Arial" charset="0"/>
              </a:defRPr>
            </a:lvl5pPr>
            <a:lvl6pPr marL="22494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7066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1638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621088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434" baseline="0" noProof="0" dirty="0">
                <a:solidFill>
                  <a:srgbClr val="808080"/>
                </a:solidFill>
                <a:latin typeface="+mn-lt"/>
              </a:rPr>
              <a:t>Unit of measure</a:t>
            </a:r>
          </a:p>
        </p:txBody>
      </p:sp>
      <p:grpSp>
        <p:nvGrpSpPr>
          <p:cNvPr id="12" name="McK Slide Elements" hidden="1"/>
          <p:cNvGrpSpPr>
            <a:grpSpLocks/>
          </p:cNvGrpSpPr>
          <p:nvPr>
            <p:custDataLst>
              <p:tags r:id="rId11"/>
            </p:custDataLst>
          </p:nvPr>
        </p:nvGrpSpPr>
        <p:grpSpPr bwMode="auto">
          <a:xfrm>
            <a:off x="86096" y="10641652"/>
            <a:ext cx="6181707" cy="544191"/>
            <a:chOff x="75" y="3911"/>
            <a:chExt cx="5385" cy="200"/>
          </a:xfrm>
        </p:grpSpPr>
        <p:sp>
          <p:nvSpPr>
            <p:cNvPr id="13" name="McK 4. Footnote"/>
            <p:cNvSpPr txBox="1">
              <a:spLocks noChangeArrowheads="1"/>
            </p:cNvSpPr>
            <p:nvPr/>
          </p:nvSpPr>
          <p:spPr bwMode="auto">
            <a:xfrm>
              <a:off x="75" y="3911"/>
              <a:ext cx="5385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b">
              <a:spAutoFit/>
            </a:bodyPr>
            <a:lstStyle>
              <a:lvl1pPr marL="104775" indent="-104775" defTabSz="895350">
                <a:defRPr sz="2400">
                  <a:solidFill>
                    <a:schemeClr val="tx1"/>
                  </a:solidFill>
                  <a:latin typeface="Arial" charset="0"/>
                </a:defRPr>
              </a:lvl1pPr>
              <a:lvl2pPr marL="1031875" defTabSz="895350">
                <a:defRPr sz="2400">
                  <a:solidFill>
                    <a:schemeClr val="tx1"/>
                  </a:solidFill>
                  <a:latin typeface="Arial" charset="0"/>
                </a:defRPr>
              </a:lvl2pPr>
              <a:lvl3pPr marL="1217613" defTabSz="895350">
                <a:defRPr sz="2400">
                  <a:solidFill>
                    <a:schemeClr val="tx1"/>
                  </a:solidFill>
                  <a:latin typeface="Arial" charset="0"/>
                </a:defRPr>
              </a:lvl3pPr>
              <a:lvl4pPr marL="1404938" defTabSz="895350">
                <a:defRPr sz="2400">
                  <a:solidFill>
                    <a:schemeClr val="tx1"/>
                  </a:solidFill>
                  <a:latin typeface="Arial" charset="0"/>
                </a:defRPr>
              </a:lvl4pPr>
              <a:lvl5pPr marL="1792288" defTabSz="895350">
                <a:defRPr sz="2400">
                  <a:solidFill>
                    <a:schemeClr val="tx1"/>
                  </a:solidFill>
                  <a:latin typeface="Arial" charset="0"/>
                </a:defRPr>
              </a:lvl5pPr>
              <a:lvl6pPr marL="22494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6pPr>
              <a:lvl7pPr marL="27066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7pPr>
              <a:lvl8pPr marL="31638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8pPr>
              <a:lvl9pPr marL="3621088" defTabSz="895350" fontAlgn="base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>
                <a:defRPr/>
              </a:pPr>
              <a:r>
                <a:rPr lang="en-US" sz="271" baseline="0" noProof="0" dirty="0">
                  <a:latin typeface="+mn-lt"/>
                </a:rPr>
                <a:t>1 Footnote</a:t>
              </a:r>
            </a:p>
          </p:txBody>
        </p:sp>
        <p:sp>
          <p:nvSpPr>
            <p:cNvPr id="14" name="McK 5. Source"/>
            <p:cNvSpPr>
              <a:spLocks noChangeArrowheads="1"/>
            </p:cNvSpPr>
            <p:nvPr/>
          </p:nvSpPr>
          <p:spPr bwMode="auto">
            <a:xfrm>
              <a:off x="75" y="4096"/>
              <a:ext cx="4323" cy="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0" anchor="ctr">
              <a:spAutoFit/>
            </a:bodyPr>
            <a:lstStyle/>
            <a:p>
              <a:pPr marL="165262" indent="-165262" defTabSz="242728">
                <a:tabLst>
                  <a:tab pos="166123" algn="l"/>
                </a:tabLst>
              </a:pPr>
              <a:r>
                <a:rPr lang="en-US" sz="271" baseline="0" noProof="0" dirty="0">
                  <a:solidFill>
                    <a:schemeClr val="tx1"/>
                  </a:solidFill>
                  <a:latin typeface="+mn-lt"/>
                </a:rPr>
                <a:t>SOURCE: Source</a:t>
              </a:r>
            </a:p>
          </p:txBody>
        </p:sp>
      </p:grpSp>
      <p:grpSp>
        <p:nvGrpSpPr>
          <p:cNvPr id="15" name="ACET" hidden="1"/>
          <p:cNvGrpSpPr>
            <a:grpSpLocks/>
          </p:cNvGrpSpPr>
          <p:nvPr>
            <p:custDataLst>
              <p:tags r:id="rId12"/>
            </p:custDataLst>
          </p:nvPr>
        </p:nvGrpSpPr>
        <p:grpSpPr bwMode="auto">
          <a:xfrm>
            <a:off x="1050376" y="2650205"/>
            <a:ext cx="3083392" cy="152373"/>
            <a:chOff x="915" y="974"/>
            <a:chExt cx="2686" cy="56"/>
          </a:xfrm>
        </p:grpSpPr>
        <p:cxnSp>
          <p:nvCxnSpPr>
            <p:cNvPr id="16" name="AutoShape 249"/>
            <p:cNvCxnSpPr>
              <a:cxnSpLocks noChangeShapeType="1"/>
              <a:stCxn id="17" idx="4"/>
              <a:endCxn id="17" idx="6"/>
            </p:cNvCxnSpPr>
            <p:nvPr/>
          </p:nvCxnSpPr>
          <p:spPr bwMode="auto">
            <a:xfrm>
              <a:off x="915" y="1030"/>
              <a:ext cx="2686" cy="0"/>
            </a:xfrm>
            <a:prstGeom prst="straightConnector1">
              <a:avLst/>
            </a:prstGeom>
            <a:noFill/>
            <a:ln w="9525">
              <a:solidFill>
                <a:srgbClr val="80808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sp>
          <p:nvSpPr>
            <p:cNvPr id="17" name="AutoShape 250"/>
            <p:cNvSpPr>
              <a:spLocks noChangeArrowheads="1"/>
            </p:cNvSpPr>
            <p:nvPr/>
          </p:nvSpPr>
          <p:spPr bwMode="auto">
            <a:xfrm>
              <a:off x="915" y="974"/>
              <a:ext cx="2686" cy="56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0" tIns="0" rIns="0" bIns="18288" anchor="b">
              <a:spAutoFit/>
            </a:bodyPr>
            <a:lstStyle/>
            <a:p>
              <a:r>
                <a:rPr lang="en-US" sz="434" b="1" baseline="0" noProof="0" dirty="0">
                  <a:latin typeface="+mn-lt"/>
                  <a:ea typeface="+mn-ea"/>
                </a:rPr>
                <a:t>Title</a:t>
              </a:r>
            </a:p>
            <a:p>
              <a:r>
                <a:rPr lang="en-US" sz="434" baseline="0" noProof="0" dirty="0">
                  <a:solidFill>
                    <a:srgbClr val="808080"/>
                  </a:solidFill>
                  <a:latin typeface="+mn-lt"/>
                  <a:ea typeface="+mn-ea"/>
                </a:rPr>
                <a:t>Unit of measure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3" r:id="rId3"/>
    <p:sldLayoutId id="2147483652" r:id="rId4"/>
  </p:sldLayoutIdLst>
  <p:hf hdr="0" ftr="0" dt="0"/>
  <p:txStyles>
    <p:titleStyle>
      <a:lvl1pPr algn="ctr" defTabSz="242728" rtl="0" eaLnBrk="1" fontAlgn="base" latinLnBrk="1" hangingPunct="1">
        <a:spcBef>
          <a:spcPct val="0"/>
        </a:spcBef>
        <a:spcAft>
          <a:spcPct val="0"/>
        </a:spcAft>
        <a:tabLst>
          <a:tab pos="73163" algn="l"/>
        </a:tabLst>
        <a:defRPr sz="5000" b="1" baseline="0">
          <a:solidFill>
            <a:schemeClr val="accent3">
              <a:lumMod val="50000"/>
            </a:schemeClr>
          </a:solidFill>
          <a:latin typeface="Noto Sans KR" panose="020B0200000000000000" pitchFamily="50" charset="-127"/>
          <a:ea typeface="Noto Sans KR" panose="020B0200000000000000" pitchFamily="50" charset="-127"/>
          <a:cs typeface="+mj-cs"/>
        </a:defRPr>
      </a:lvl1pPr>
      <a:lvl2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2pPr>
      <a:lvl3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3pPr>
      <a:lvl4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4pPr>
      <a:lvl5pPr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5pPr>
      <a:lvl6pPr marL="12394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6pPr>
      <a:lvl7pPr marL="247893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7pPr>
      <a:lvl8pPr marL="371839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8pPr>
      <a:lvl9pPr marL="495786" algn="l" defTabSz="242728" rtl="0" eaLnBrk="1" fontAlgn="base" latinLnBrk="1" hangingPunct="1">
        <a:spcBef>
          <a:spcPct val="0"/>
        </a:spcBef>
        <a:spcAft>
          <a:spcPct val="0"/>
        </a:spcAft>
        <a:defRPr sz="515" b="1">
          <a:solidFill>
            <a:schemeClr val="tx2"/>
          </a:solidFill>
          <a:latin typeface="Arial" charset="0"/>
        </a:defRPr>
      </a:lvl9pPr>
    </p:titleStyle>
    <p:bodyStyle>
      <a:lvl1pPr marL="0" indent="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defRPr sz="298" baseline="0">
          <a:solidFill>
            <a:schemeClr val="tx1"/>
          </a:solidFill>
          <a:latin typeface="+mn-lt"/>
          <a:ea typeface="+mn-ea"/>
          <a:cs typeface="+mn-cs"/>
        </a:defRPr>
      </a:lvl1pPr>
      <a:lvl2pPr marL="52505" indent="-52075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5000"/>
        <a:buFont typeface="Arial" charset="0"/>
        <a:buChar char="▪"/>
        <a:defRPr sz="298" baseline="0">
          <a:solidFill>
            <a:schemeClr val="tx1"/>
          </a:solidFill>
          <a:latin typeface="+mn-lt"/>
        </a:defRPr>
      </a:lvl2pPr>
      <a:lvl3pPr marL="123946" indent="-71011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–"/>
        <a:defRPr sz="298" baseline="0">
          <a:solidFill>
            <a:schemeClr val="tx1"/>
          </a:solidFill>
          <a:latin typeface="+mn-lt"/>
        </a:defRPr>
      </a:lvl3pPr>
      <a:lvl4pPr marL="166553" indent="-42176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120000"/>
        <a:buFont typeface="Arial" charset="0"/>
        <a:buChar char="▫"/>
        <a:defRPr sz="298" baseline="0">
          <a:solidFill>
            <a:schemeClr val="tx1"/>
          </a:solidFill>
          <a:latin typeface="+mn-lt"/>
        </a:defRPr>
      </a:lvl4pPr>
      <a:lvl5pPr marL="203272" indent="-35290" algn="l" defTabSz="242728" rtl="0" eaLnBrk="1" fontAlgn="base" latinLnBrk="1" hangingPunct="1">
        <a:spcBef>
          <a:spcPct val="0"/>
        </a:spcBef>
        <a:spcAft>
          <a:spcPts val="54"/>
        </a:spcAft>
        <a:buClr>
          <a:schemeClr val="tx2"/>
        </a:buClr>
        <a:buSzPct val="89000"/>
        <a:buFont typeface="Arial" charset="0"/>
        <a:buChar char="-"/>
        <a:defRPr sz="298" baseline="0">
          <a:solidFill>
            <a:schemeClr val="tx1"/>
          </a:solidFill>
          <a:latin typeface="+mn-lt"/>
        </a:defRPr>
      </a:lvl5pPr>
      <a:lvl6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6pPr>
      <a:lvl7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7pPr>
      <a:lvl8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8pPr>
      <a:lvl9pPr marL="203272" indent="-35290" algn="l" defTabSz="242728" rtl="0" eaLnBrk="1" fontAlgn="base" latinLnBrk="1" hangingPunct="1">
        <a:spcBef>
          <a:spcPct val="0"/>
        </a:spcBef>
        <a:spcAft>
          <a:spcPct val="0"/>
        </a:spcAft>
        <a:buClr>
          <a:schemeClr val="tx2"/>
        </a:buClr>
        <a:buSzPct val="89000"/>
        <a:buFont typeface="Arial" charset="0"/>
        <a:buChar char="-"/>
        <a:defRPr sz="434" baseline="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1pPr>
      <a:lvl2pPr marL="12394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2pPr>
      <a:lvl3pPr marL="247893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3pPr>
      <a:lvl4pPr marL="37183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4pPr>
      <a:lvl5pPr marL="495786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5pPr>
      <a:lvl6pPr marL="619732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6pPr>
      <a:lvl7pPr marL="743679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7pPr>
      <a:lvl8pPr marL="867625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8pPr>
      <a:lvl9pPr marL="991571" algn="l" defTabSz="247893" rtl="0" eaLnBrk="1" latinLnBrk="1" hangingPunct="1">
        <a:defRPr sz="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000"/>
              <a:t>HBM·고적층
낸드·기업용 SSD
수요 선점과 실적
급증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 wrap="square"/>
          <a:lstStyle/>
          <a:p>
            <a:r>
              <a:rPr sz="4000"/>
              <a:t>2026-06-17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000"/>
              <a:t>SK하이닉스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000"/>
              <a:t>D램·낸드 기반 HBM·SSD
경쟁력 기업</a:t>
            </a:r>
            <a:r>
              <a:rPr sz="2700" b="0">
                <a:solidFill>
                  <a:srgbClr val="282828"/>
                </a:solidFill>
              </a:rPr>
              <a:t> (KOSPI 2-th)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rPr sz="2500" b="1">
                <a:solidFill>
                  <a:srgbClr val="00008B"/>
                </a:solidFill>
              </a:rPr>
              <a:t>■ D램·낸드·HBM 메모리 반도체 기업
</a:t>
            </a:r>
            <a:r>
              <a:rPr sz="2200" b="0"/>
              <a:t>서버·모바일 D램, 낸드, 기업용 SSD,
AI용 HBM이 핵심이며,
데이터센터·스마트폰·PC·차량 수요에
공급됨
</a:t>
            </a:r>
            <a:r>
              <a:rPr sz="2200" b="0"/>
              <a:t>
</a:t>
            </a:r>
            <a:r>
              <a:rPr sz="2500" b="1">
                <a:solidFill>
                  <a:srgbClr val="00008B"/>
                </a:solidFill>
              </a:rPr>
              <a:t>■ HBM 양산·인증 선도 공급사
</a:t>
            </a:r>
            <a:r>
              <a:rPr sz="2200" b="0"/>
              <a:t>HBM 공정·수율·열관리·패키징 선도,
2024년 HBM3E 8단 양산·공급 확대와 AI
칩 검증 진행 중임
</a:t>
            </a:r>
            <a:r>
              <a:rPr sz="2200" b="0"/>
              <a:t>
</a:t>
            </a:r>
            <a:r>
              <a:rPr sz="2500" b="1">
                <a:solidFill>
                  <a:srgbClr val="00008B"/>
                </a:solidFill>
              </a:rPr>
              <a:t>■ 대용량 낸드·SSD 안정 공급력
</a:t>
            </a:r>
            <a:r>
              <a:rPr sz="2200" b="0"/>
              <a:t>176단 이상 낸드로 고용량·저전력 저장
구현, SSD 수요 증가에 대응력 큰 회사임
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000"/>
              <a:t>26/1분기 실적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000"/>
              <a:t>전년 동기 대비 급증한 분기 실적</a:t>
            </a:r>
          </a:p>
        </p:txBody>
      </p:sp>
      <p:pic>
        <p:nvPicPr>
          <p:cNvPr id="4" name="Picture Placeholder 3" descr="000660_revenue_06171257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rPr sz="2500"/>
              <a:t>메모리 가격 상승, 서버 수요, 출하량
증가로 매출 급증함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000"/>
              <a:t>26/1분기 실적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000"/>
              <a:t>26Q1 사상 최고치 급등, 전분기
대비 거의 2배</a:t>
            </a:r>
          </a:p>
        </p:txBody>
      </p:sp>
      <p:pic>
        <p:nvPicPr>
          <p:cNvPr id="4" name="Picture Placeholder 3" descr="000660_operating_income_06171257.png"/>
          <p:cNvPicPr>
            <a:picLocks noGrp="1" noChangeAspect="1"/>
          </p:cNvPicPr>
          <p:nvPr>
            <p:ph type="pic" idx="11" sz="quarter"/>
          </p:nvPr>
        </p:nvPicPr>
        <p:blipFill>
          <a:blip r:embed="rId2"/>
          <a:srcRect/>
          <a:stretch>
            <a:fillRect/>
          </a:stretch>
        </p:blipFill>
        <p:spPr/>
      </p:pic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rPr sz="2500"/>
              <a:t>반도체 가격 회복, AI
서버·데이터센터 메모리 수요, 가동률
상승, 재고 정상화로 실적 급증함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000"/>
              <a:t>핵심 이슈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000"/>
              <a:t>AI 고대역 메모리·범용
회복·규제 변수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 wrap="square"/>
          <a:lstStyle/>
          <a:p>
            <a:r>
              <a:rPr sz="2500" b="1">
                <a:solidFill>
                  <a:srgbClr val="00008B"/>
                </a:solidFill>
              </a:rPr>
              <a:t>■ AI용 고대역 메모리 증설·수율 압박
</a:t>
            </a:r>
            <a:r>
              <a:rPr sz="2200" b="0"/>
              <a:t>규제·인증 지연과 경쟁사 증설로 HBM 공급
확대, 출하, 단가 협상력 흔들림 우려 있음
</a:t>
            </a:r>
            <a:r>
              <a:rPr sz="2200" b="0"/>
              <a:t>
</a:t>
            </a:r>
            <a:r>
              <a:rPr sz="2500" b="1">
                <a:solidFill>
                  <a:srgbClr val="00008B"/>
                </a:solidFill>
              </a:rPr>
              <a:t>■ 범용 메모리 재고 조정 장기화로
서버·PC 수요 회복 지연
</a:t>
            </a:r>
            <a:r>
              <a:rPr sz="2200" b="0"/>
              <a:t>범용 메모리 회복 지연 시 서버·PC 수요
둔화, 가격 반등 지연, 투자·생산 부담 커짐
</a:t>
            </a:r>
            <a:r>
              <a:rPr sz="2200" b="0"/>
              <a:t>
</a:t>
            </a:r>
            <a:r>
              <a:rPr sz="2500" b="1">
                <a:solidFill>
                  <a:srgbClr val="00008B"/>
                </a:solidFill>
              </a:rPr>
              <a:t>■ 미국 대중국 규제와 해외생산 제약
불확실성
</a:t>
            </a:r>
            <a:r>
              <a:rPr sz="2200" b="0"/>
              <a:t>미국 대중국 반도체 규제 강화로 중국 생산
제품의 장비·인증·투자 일정 흔들림,
경쟁력·신뢰 불확실성 커짐
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5000"/>
              <a:t>AI·데이터센터
수요, 메모리 가격
상승, 제품 믹스
개선, 공급 제약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 wrap="square"/>
          <a:lstStyle/>
          <a:p>
            <a:r>
              <a:rPr sz="3000"/>
              <a:t>DRAM·NAND, 서버·AI 투자,
수출지표 확인 필요함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S" val="1,2"/>
  <p:tag name="THINKCELLUNDODONOTDELETE" val="27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hhECp61o0yjJDxWXjQGPQ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mMyuXXSc0GwUXTIE7hO1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x_msYV5W0OGJ9s.J8rfQ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JgAkdZsik.pHy2hdw9Qj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owaDWee8kiFak03wnyfNQ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8HD1ALd4EaUwJh9ZW3i1g"/>
</p:tagLst>
</file>

<file path=ppt/theme/theme1.xml><?xml version="1.0" encoding="utf-8"?>
<a:theme xmlns:a="http://schemas.openxmlformats.org/drawingml/2006/main" name="Firm Format - English (US)">
  <a:themeElements>
    <a:clrScheme name="Firm Format 2">
      <a:dk1>
        <a:srgbClr val="000000"/>
      </a:dk1>
      <a:lt1>
        <a:srgbClr val="FFFFFF"/>
      </a:lt1>
      <a:dk2>
        <a:srgbClr val="002960"/>
      </a:dk2>
      <a:lt2>
        <a:srgbClr val="FFFFFF"/>
      </a:lt2>
      <a:accent1>
        <a:srgbClr val="C7E0FB"/>
      </a:accent1>
      <a:accent2>
        <a:srgbClr val="91B0FF"/>
      </a:accent2>
      <a:accent3>
        <a:srgbClr val="0066CC"/>
      </a:accent3>
      <a:accent4>
        <a:srgbClr val="002960"/>
      </a:accent4>
      <a:accent5>
        <a:srgbClr val="FF6600"/>
      </a:accent5>
      <a:accent6>
        <a:srgbClr val="808080"/>
      </a:accent6>
      <a:hlink>
        <a:srgbClr val="0066CC"/>
      </a:hlink>
      <a:folHlink>
        <a:srgbClr val="002960"/>
      </a:folHlink>
    </a:clrScheme>
    <a:fontScheme name="Noto Sans KR">
      <a:majorFont>
        <a:latin typeface="Noto Sans KR"/>
        <a:ea typeface="Noto Sans KR"/>
        <a:cs typeface=""/>
      </a:majorFont>
      <a:minorFont>
        <a:latin typeface="Noto Sans KR"/>
        <a:ea typeface="Noto Sans K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9525">
          <a:solidFill>
            <a:schemeClr val="accent6"/>
          </a:solidFill>
        </a:ln>
      </a:spPr>
      <a:bodyPr rtlCol="0" anchor="ctr"/>
      <a:lstStyle>
        <a:defPPr algn="ctr">
          <a:defRPr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accent6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Firm Format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EAEAEA"/>
        </a:accent1>
        <a:accent2>
          <a:srgbClr val="D0D0D0"/>
        </a:accent2>
        <a:accent3>
          <a:srgbClr val="909090"/>
        </a:accent3>
        <a:accent4>
          <a:srgbClr val="606060"/>
        </a:accent4>
        <a:accent5>
          <a:srgbClr val="FF6600"/>
        </a:accent5>
        <a:accent6>
          <a:srgbClr val="808080"/>
        </a:accent6>
        <a:hlink>
          <a:srgbClr val="909090"/>
        </a:hlink>
        <a:folHlink>
          <a:srgbClr val="6060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2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91B0FF"/>
        </a:accent2>
        <a:accent3>
          <a:srgbClr val="0066CC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0066CC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Firm Format 3">
        <a:dk1>
          <a:srgbClr val="000000"/>
        </a:dk1>
        <a:lt1>
          <a:srgbClr val="FFFFFF"/>
        </a:lt1>
        <a:dk2>
          <a:srgbClr val="002960"/>
        </a:dk2>
        <a:lt2>
          <a:srgbClr val="FFFFFF"/>
        </a:lt2>
        <a:accent1>
          <a:srgbClr val="C7E0FB"/>
        </a:accent1>
        <a:accent2>
          <a:srgbClr val="C7C293"/>
        </a:accent2>
        <a:accent3>
          <a:srgbClr val="50A2A0"/>
        </a:accent3>
        <a:accent4>
          <a:srgbClr val="002960"/>
        </a:accent4>
        <a:accent5>
          <a:srgbClr val="FF6600"/>
        </a:accent5>
        <a:accent6>
          <a:srgbClr val="808080"/>
        </a:accent6>
        <a:hlink>
          <a:srgbClr val="50A2A0"/>
        </a:hlink>
        <a:folHlink>
          <a:srgbClr val="00296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000000"/>
      </a:lt2>
      <a:accent1>
        <a:srgbClr val="FFFFFF"/>
      </a:accent1>
      <a:accent2>
        <a:srgbClr val="D0D0D0"/>
      </a:accent2>
      <a:accent3>
        <a:srgbClr val="FFFFFF"/>
      </a:accent3>
      <a:accent4>
        <a:srgbClr val="000000"/>
      </a:accent4>
      <a:accent5>
        <a:srgbClr val="FFFFFF"/>
      </a:accent5>
      <a:accent6>
        <a:srgbClr val="BCBCBC"/>
      </a:accent6>
      <a:hlink>
        <a:srgbClr val="909090"/>
      </a:hlink>
      <a:folHlink>
        <a:srgbClr val="0000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Firm Format - English (US)</Template>
  <TotalTime>0</TotalTime>
  <Words>0</Words>
  <Application>Microsoft Office PowerPoint</Application>
  <PresentationFormat>사용자 지정</PresentationFormat>
  <Paragraphs>0</Paragraphs>
  <Slides>0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0</vt:i4>
      </vt:variant>
    </vt:vector>
  </HeadingPairs>
  <TitlesOfParts>
    <vt:vector size="4" baseType="lpstr">
      <vt:lpstr>Noto Sans KR</vt:lpstr>
      <vt:lpstr>Arial</vt:lpstr>
      <vt:lpstr>Firm Format - English (US)</vt:lpstr>
      <vt:lpstr>think-cell Slide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2023-02-26T22:20:41Z</dcterms:created>
  <dcterms:modified xsi:type="dcterms:W3CDTF">2025-01-08T07:54:21Z</dcterms:modified>
</cp:coreProperties>
</file>